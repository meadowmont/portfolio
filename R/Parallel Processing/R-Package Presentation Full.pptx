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oboto Slab"/>
      <p:regular r:id="rId22"/>
      <p:bold r:id="rId23"/>
    </p:embeddedFont>
    <p:embeddedFont>
      <p:font typeface="Robo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Slab-regular.fntdata"/><Relationship Id="rId21" Type="http://schemas.openxmlformats.org/officeDocument/2006/relationships/slide" Target="slides/slide16.xml"/><Relationship Id="rId24" Type="http://schemas.openxmlformats.org/officeDocument/2006/relationships/font" Target="fonts/Roboto-regular.fntdata"/><Relationship Id="rId23" Type="http://schemas.openxmlformats.org/officeDocument/2006/relationships/font" Target="fonts/RobotoSlab-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italic.fntdata"/><Relationship Id="rId25" Type="http://schemas.openxmlformats.org/officeDocument/2006/relationships/font" Target="fonts/Roboto-bold.fntdata"/><Relationship Id="rId27"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meadow</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8755c07e4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8755c07e4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8755c07e4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8755c07e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755c07e4f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8755c07e4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t>
            </a:r>
            <a:endParaRPr/>
          </a:p>
          <a:p>
            <a:pPr indent="0" lvl="0" marL="0" rtl="0" algn="l">
              <a:spcBef>
                <a:spcPts val="0"/>
              </a:spcBef>
              <a:spcAft>
                <a:spcPts val="0"/>
              </a:spcAft>
              <a:buNone/>
            </a:pPr>
            <a:r>
              <a:rPr lang="en"/>
              <a:t>Here we can see that the data set can/should be cleaned. We want to remove the secondary email column, the blank row (10), alter other formatting, and explore the data in various ways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68cb33744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68cb33744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68e838aba4_3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68e838aba4_3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68e838aba4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68e838aba4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
            </a:r>
            <a:endParaRPr/>
          </a:p>
          <a:p>
            <a:pPr indent="0" lvl="0" marL="0" rtl="0" algn="l">
              <a:spcBef>
                <a:spcPts val="0"/>
              </a:spcBef>
              <a:spcAft>
                <a:spcPts val="0"/>
              </a:spcAft>
              <a:buNone/>
            </a:pPr>
            <a:r>
              <a:rPr lang="en"/>
              <a:t>We can tell it worked because our dimensions decreased. We checked before and after. 10,15 to 9,14. Consistent with visual inspection of data. After check column names and see that secondary email name field is no longer in our list of column names.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68e838aba4_3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68e838aba4_3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
            </a:r>
            <a:endParaRPr/>
          </a:p>
          <a:p>
            <a:pPr indent="0" lvl="0" marL="0" rtl="0" algn="l">
              <a:spcBef>
                <a:spcPts val="0"/>
              </a:spcBef>
              <a:spcAft>
                <a:spcPts val="0"/>
              </a:spcAft>
              <a:buNone/>
            </a:pPr>
            <a:r>
              <a:rPr lang="en"/>
              <a:t>We can tell it worked because our dimensions decreased. We checked before and after. 10,15 to 9,14. Consistent with visual inspection of data. After check column names and see that secondary email name was dropped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68cb33744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68cb33744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68e838aba4_3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68e838aba4_3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68cb337449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68cb337449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68e838aba4_3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68e838aba4_3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68cb33744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68cb33744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8755c07e4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8755c07e4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8755c07e4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8755c07e4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8755c07e4f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8755c07e4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rgbClr val="274E1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cran.r-project.org/web/packages/janitor/index.html" TargetMode="External"/><Relationship Id="rId4" Type="http://schemas.openxmlformats.org/officeDocument/2006/relationships/hyperlink" Target="https://cran.r-project.org/web/packages/janitor/vignettes/janitor.html#clean-dataframe-names-with-clean_names" TargetMode="External"/><Relationship Id="rId5" Type="http://schemas.openxmlformats.org/officeDocument/2006/relationships/hyperlink" Target="https://www.rdocumentation.org/packages/janitor/versions/2.2.1"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80302" y="1421625"/>
            <a:ext cx="5783400" cy="1457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“janitor” Package in R</a:t>
            </a:r>
            <a:endParaRPr/>
          </a:p>
        </p:txBody>
      </p:sp>
      <p:sp>
        <p:nvSpPr>
          <p:cNvPr id="64" name="Google Shape;64;p13"/>
          <p:cNvSpPr txBox="1"/>
          <p:nvPr>
            <p:ph idx="1" type="subTitle"/>
          </p:nvPr>
        </p:nvSpPr>
        <p:spPr>
          <a:xfrm>
            <a:off x="1680302" y="3049450"/>
            <a:ext cx="5783400" cy="909000"/>
          </a:xfrm>
          <a:prstGeom prst="rect">
            <a:avLst/>
          </a:prstGeom>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2700"/>
              <a:t>Meadow Monticello</a:t>
            </a:r>
            <a:endParaRPr sz="2700"/>
          </a:p>
          <a:p>
            <a:pPr indent="0" lvl="0" marL="0" rtl="0" algn="ctr">
              <a:lnSpc>
                <a:spcPct val="90000"/>
              </a:lnSpc>
              <a:spcBef>
                <a:spcPts val="0"/>
              </a:spcBef>
              <a:spcAft>
                <a:spcPts val="0"/>
              </a:spcAft>
              <a:buNone/>
            </a:pPr>
            <a:r>
              <a:rPr lang="en" sz="2700"/>
              <a:t>Nick Zywalewski</a:t>
            </a:r>
            <a:endParaRPr sz="2700"/>
          </a:p>
        </p:txBody>
      </p:sp>
      <p:pic>
        <p:nvPicPr>
          <p:cNvPr id="65" name="Google Shape;65;p13"/>
          <p:cNvPicPr preferRelativeResize="0"/>
          <p:nvPr/>
        </p:nvPicPr>
        <p:blipFill>
          <a:blip r:embed="rId3">
            <a:alphaModFix/>
          </a:blip>
          <a:stretch>
            <a:fillRect/>
          </a:stretch>
        </p:blipFill>
        <p:spPr>
          <a:xfrm>
            <a:off x="6826875" y="128925"/>
            <a:ext cx="2076974" cy="1753000"/>
          </a:xfrm>
          <a:prstGeom prst="rect">
            <a:avLst/>
          </a:prstGeom>
          <a:noFill/>
          <a:ln cap="flat" cmpd="sng" w="28575">
            <a:solidFill>
              <a:schemeClr val="dk2"/>
            </a:solidFill>
            <a:prstDash val="solid"/>
            <a:round/>
            <a:headEnd len="sm" w="sm" type="none"/>
            <a:tailEnd len="sm" w="sm" type="none"/>
          </a:ln>
        </p:spPr>
      </p:pic>
      <p:sp>
        <p:nvSpPr>
          <p:cNvPr id="66" name="Google Shape;66;p13"/>
          <p:cNvSpPr txBox="1"/>
          <p:nvPr>
            <p:ph idx="1" type="subTitle"/>
          </p:nvPr>
        </p:nvSpPr>
        <p:spPr>
          <a:xfrm>
            <a:off x="2664675" y="0"/>
            <a:ext cx="4162200" cy="21522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1900"/>
              <a:t>This is the full version of our slides. We cut some slides off (for time-sake) when we turned it into the pdf that we presented. We needed it to be a pdf to </a:t>
            </a:r>
            <a:r>
              <a:rPr lang="en" sz="1900"/>
              <a:t>effectively</a:t>
            </a:r>
            <a:r>
              <a:rPr lang="en" sz="1900"/>
              <a:t> do a split-screen presentation! Please refer to the pdf file to see what we ended up presenting.</a:t>
            </a:r>
            <a:endParaRPr sz="19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4"/>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3420"/>
              <a:t>Presentation Outline</a:t>
            </a:r>
            <a:endParaRPr sz="3420"/>
          </a:p>
        </p:txBody>
      </p:sp>
      <p:sp>
        <p:nvSpPr>
          <p:cNvPr id="72" name="Google Shape;72;p1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438150" lvl="0" marL="457200" rtl="0" algn="l">
              <a:spcBef>
                <a:spcPts val="0"/>
              </a:spcBef>
              <a:spcAft>
                <a:spcPts val="0"/>
              </a:spcAft>
              <a:buSzPts val="3300"/>
              <a:buAutoNum type="arabicPeriod"/>
            </a:pPr>
            <a:r>
              <a:rPr lang="en" sz="3300"/>
              <a:t>Package overview</a:t>
            </a:r>
            <a:endParaRPr sz="3300"/>
          </a:p>
          <a:p>
            <a:pPr indent="-438150" lvl="0" marL="457200" rtl="0" algn="l">
              <a:spcBef>
                <a:spcPts val="0"/>
              </a:spcBef>
              <a:spcAft>
                <a:spcPts val="0"/>
              </a:spcAft>
              <a:buSzPts val="3300"/>
              <a:buAutoNum type="arabicPeriod"/>
            </a:pPr>
            <a:r>
              <a:rPr lang="en" sz="3300"/>
              <a:t>Our data set</a:t>
            </a:r>
            <a:endParaRPr sz="3300"/>
          </a:p>
          <a:p>
            <a:pPr indent="-438150" lvl="0" marL="457200" rtl="0" algn="l">
              <a:spcBef>
                <a:spcPts val="0"/>
              </a:spcBef>
              <a:spcAft>
                <a:spcPts val="0"/>
              </a:spcAft>
              <a:buSzPts val="3300"/>
              <a:buAutoNum type="arabicPeriod"/>
            </a:pPr>
            <a:r>
              <a:rPr lang="en" sz="3300"/>
              <a:t>Implementation in R</a:t>
            </a:r>
            <a:endParaRPr sz="3300"/>
          </a:p>
          <a:p>
            <a:pPr indent="-438150" lvl="0" marL="457200" rtl="0" algn="l">
              <a:spcBef>
                <a:spcPts val="0"/>
              </a:spcBef>
              <a:spcAft>
                <a:spcPts val="0"/>
              </a:spcAft>
              <a:buSzPts val="3300"/>
              <a:buAutoNum type="arabicPeriod"/>
            </a:pPr>
            <a:r>
              <a:rPr lang="en" sz="3300"/>
              <a:t>Takeaways and our </a:t>
            </a:r>
            <a:r>
              <a:rPr lang="en" sz="3300"/>
              <a:t>experience with data cleaning </a:t>
            </a:r>
            <a:endParaRPr sz="3300"/>
          </a:p>
        </p:txBody>
      </p:sp>
      <p:pic>
        <p:nvPicPr>
          <p:cNvPr id="73" name="Google Shape;73;p14"/>
          <p:cNvPicPr preferRelativeResize="0"/>
          <p:nvPr/>
        </p:nvPicPr>
        <p:blipFill>
          <a:blip r:embed="rId3">
            <a:alphaModFix/>
          </a:blip>
          <a:stretch>
            <a:fillRect/>
          </a:stretch>
        </p:blipFill>
        <p:spPr>
          <a:xfrm>
            <a:off x="5860778" y="246628"/>
            <a:ext cx="2601150" cy="2601150"/>
          </a:xfrm>
          <a:prstGeom prst="rect">
            <a:avLst/>
          </a:prstGeom>
          <a:noFill/>
          <a:ln cap="flat" cmpd="sng" w="28575">
            <a:solidFill>
              <a:schemeClr val="dk2"/>
            </a:solidFill>
            <a:prstDash val="solid"/>
            <a:round/>
            <a:headEnd len="sm" w="sm" type="none"/>
            <a:tailEnd len="sm" w="sm" type="none"/>
          </a:ln>
        </p:spPr>
      </p:pic>
      <p:sp>
        <p:nvSpPr>
          <p:cNvPr id="74" name="Google Shape;74;p14"/>
          <p:cNvSpPr txBox="1"/>
          <p:nvPr/>
        </p:nvSpPr>
        <p:spPr>
          <a:xfrm>
            <a:off x="5564300" y="2847775"/>
            <a:ext cx="3194100" cy="10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Roboto"/>
                <a:ea typeface="Roboto"/>
                <a:cs typeface="Roboto"/>
                <a:sym typeface="Roboto"/>
              </a:rPr>
              <a:t>OoOOoOo! What’s that?</a:t>
            </a:r>
            <a:endParaRPr sz="900">
              <a:solidFill>
                <a:schemeClr val="dk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What is the “janitor” package?</a:t>
            </a:r>
            <a:endParaRPr/>
          </a:p>
        </p:txBody>
      </p:sp>
      <p:sp>
        <p:nvSpPr>
          <p:cNvPr id="80" name="Google Shape;80;p15"/>
          <p:cNvSpPr txBox="1"/>
          <p:nvPr>
            <p:ph idx="1" type="body"/>
          </p:nvPr>
        </p:nvSpPr>
        <p:spPr>
          <a:xfrm>
            <a:off x="387900" y="1489825"/>
            <a:ext cx="8368200" cy="3453900"/>
          </a:xfrm>
          <a:prstGeom prst="rect">
            <a:avLst/>
          </a:prstGeom>
        </p:spPr>
        <p:txBody>
          <a:bodyPr anchorCtr="0" anchor="t" bIns="91425" lIns="91425" spcFirstLastPara="1" rIns="91425" wrap="square" tIns="91425">
            <a:normAutofit fontScale="70000" lnSpcReduction="20000"/>
          </a:bodyPr>
          <a:lstStyle/>
          <a:p>
            <a:pPr indent="-353885" lvl="0" marL="457200" rtl="0" algn="l">
              <a:spcBef>
                <a:spcPts val="0"/>
              </a:spcBef>
              <a:spcAft>
                <a:spcPts val="0"/>
              </a:spcAft>
              <a:buSzPct val="100000"/>
              <a:buChar char="●"/>
            </a:pPr>
            <a:r>
              <a:rPr lang="en" sz="2818"/>
              <a:t>Published on 12-22 (Meadow’s </a:t>
            </a:r>
            <a:r>
              <a:rPr lang="en" sz="2818"/>
              <a:t>birthday) -2024 and created by Sam Firke</a:t>
            </a:r>
            <a:endParaRPr sz="2818"/>
          </a:p>
          <a:p>
            <a:pPr indent="-353885" lvl="0" marL="457200" rtl="0" algn="l">
              <a:spcBef>
                <a:spcPts val="0"/>
              </a:spcBef>
              <a:spcAft>
                <a:spcPts val="0"/>
              </a:spcAft>
              <a:buSzPct val="100000"/>
              <a:buChar char="●"/>
            </a:pPr>
            <a:r>
              <a:rPr lang="en" sz="2818"/>
              <a:t>Cleaning </a:t>
            </a:r>
            <a:endParaRPr sz="2818"/>
          </a:p>
          <a:p>
            <a:pPr indent="-336105" lvl="1" marL="914400" rtl="0" algn="l">
              <a:spcBef>
                <a:spcPts val="0"/>
              </a:spcBef>
              <a:spcAft>
                <a:spcPts val="0"/>
              </a:spcAft>
              <a:buSzPct val="100000"/>
              <a:buChar char="○"/>
            </a:pPr>
            <a:r>
              <a:rPr lang="en" sz="2418"/>
              <a:t>Parses, appends, converts symbols, and (adds/removes) spaces</a:t>
            </a:r>
            <a:endParaRPr sz="2418"/>
          </a:p>
          <a:p>
            <a:pPr indent="-336105" lvl="1" marL="914400" rtl="0" algn="l">
              <a:spcBef>
                <a:spcPts val="0"/>
              </a:spcBef>
              <a:spcAft>
                <a:spcPts val="0"/>
              </a:spcAft>
              <a:buSzPct val="100000"/>
              <a:buChar char="○"/>
            </a:pPr>
            <a:r>
              <a:rPr lang="en" sz="2418"/>
              <a:t>Removing of empty rows/columns and columns with constant values</a:t>
            </a:r>
            <a:endParaRPr sz="2418"/>
          </a:p>
          <a:p>
            <a:pPr indent="-336105" lvl="1" marL="914400" rtl="0" algn="l">
              <a:spcBef>
                <a:spcPts val="0"/>
              </a:spcBef>
              <a:spcAft>
                <a:spcPts val="0"/>
              </a:spcAft>
              <a:buSzPct val="100000"/>
              <a:buChar char="○"/>
            </a:pPr>
            <a:r>
              <a:rPr lang="en" sz="2418"/>
              <a:t>Converting date formats</a:t>
            </a:r>
            <a:endParaRPr sz="2418"/>
          </a:p>
          <a:p>
            <a:pPr indent="-353885" lvl="0" marL="457200" rtl="0" algn="l">
              <a:spcBef>
                <a:spcPts val="0"/>
              </a:spcBef>
              <a:spcAft>
                <a:spcPts val="0"/>
              </a:spcAft>
              <a:buSzPct val="100000"/>
              <a:buChar char="●"/>
            </a:pPr>
            <a:r>
              <a:rPr lang="en" sz="2818"/>
              <a:t>Exploring </a:t>
            </a:r>
            <a:endParaRPr sz="2818"/>
          </a:p>
          <a:p>
            <a:pPr indent="-336105" lvl="1" marL="914400" rtl="0" algn="l">
              <a:spcBef>
                <a:spcPts val="0"/>
              </a:spcBef>
              <a:spcAft>
                <a:spcPts val="0"/>
              </a:spcAft>
              <a:buSzPct val="100000"/>
              <a:buChar char="○"/>
            </a:pPr>
            <a:r>
              <a:rPr lang="en" sz="2418"/>
              <a:t>Search records for duplicates and specific value combinations</a:t>
            </a:r>
            <a:endParaRPr sz="2418"/>
          </a:p>
          <a:p>
            <a:pPr indent="-336105" lvl="1" marL="914400" rtl="0" algn="l">
              <a:spcBef>
                <a:spcPts val="0"/>
              </a:spcBef>
              <a:spcAft>
                <a:spcPts val="0"/>
              </a:spcAft>
              <a:buSzPct val="100000"/>
              <a:buChar char="○"/>
            </a:pPr>
            <a:r>
              <a:rPr lang="en" sz="2418"/>
              <a:t>Inspect one-to-one relationships</a:t>
            </a:r>
            <a:endParaRPr sz="2418"/>
          </a:p>
          <a:p>
            <a:pPr indent="-336105" lvl="1" marL="914400" rtl="0" algn="l">
              <a:spcBef>
                <a:spcPts val="0"/>
              </a:spcBef>
              <a:spcAft>
                <a:spcPts val="0"/>
              </a:spcAft>
              <a:buSzPct val="100000"/>
              <a:buChar char="○"/>
            </a:pPr>
            <a:r>
              <a:rPr lang="en" sz="2418"/>
              <a:t>Building tables</a:t>
            </a:r>
            <a:endParaRPr sz="2418"/>
          </a:p>
          <a:p>
            <a:pPr indent="-336105" lvl="1" marL="914400" rtl="0" algn="l">
              <a:spcBef>
                <a:spcPts val="0"/>
              </a:spcBef>
              <a:spcAft>
                <a:spcPts val="0"/>
              </a:spcAft>
              <a:buSzPct val="100000"/>
              <a:buChar char="○"/>
            </a:pPr>
            <a:r>
              <a:rPr lang="en" sz="2418"/>
              <a:t>Count factor levels</a:t>
            </a:r>
            <a:endParaRPr sz="2418"/>
          </a:p>
          <a:p>
            <a:pPr indent="0" lvl="0" marL="914400" rtl="0" algn="l">
              <a:spcBef>
                <a:spcPts val="1200"/>
              </a:spcBef>
              <a:spcAft>
                <a:spcPts val="1200"/>
              </a:spcAft>
              <a:buNone/>
            </a:pPr>
            <a:r>
              <a:t/>
            </a:r>
            <a:endParaRPr/>
          </a:p>
        </p:txBody>
      </p:sp>
      <p:sp>
        <p:nvSpPr>
          <p:cNvPr id="81" name="Google Shape;81;p15"/>
          <p:cNvSpPr txBox="1"/>
          <p:nvPr/>
        </p:nvSpPr>
        <p:spPr>
          <a:xfrm>
            <a:off x="6490450" y="175875"/>
            <a:ext cx="2422800" cy="1250400"/>
          </a:xfrm>
          <a:prstGeom prst="rect">
            <a:avLst/>
          </a:prstGeom>
          <a:solidFill>
            <a:srgbClr val="C9DAF8"/>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Courier New"/>
                <a:ea typeface="Courier New"/>
                <a:cs typeface="Courier New"/>
                <a:sym typeface="Courier New"/>
              </a:rPr>
              <a:t>clean_names()</a:t>
            </a:r>
            <a:endParaRPr sz="18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800">
                <a:solidFill>
                  <a:schemeClr val="dk2"/>
                </a:solidFill>
                <a:latin typeface="Courier New"/>
                <a:ea typeface="Courier New"/>
                <a:cs typeface="Courier New"/>
                <a:sym typeface="Courier New"/>
              </a:rPr>
              <a:t>tabyl()</a:t>
            </a:r>
            <a:endParaRPr sz="18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800">
                <a:solidFill>
                  <a:schemeClr val="dk2"/>
                </a:solidFill>
                <a:latin typeface="Courier New"/>
                <a:ea typeface="Courier New"/>
                <a:cs typeface="Courier New"/>
                <a:sym typeface="Courier New"/>
              </a:rPr>
              <a:t>get_dupes()</a:t>
            </a:r>
            <a:endParaRPr sz="18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800">
                <a:solidFill>
                  <a:schemeClr val="dk2"/>
                </a:solidFill>
                <a:latin typeface="Courier New"/>
                <a:ea typeface="Courier New"/>
                <a:cs typeface="Courier New"/>
                <a:sym typeface="Courier New"/>
              </a:rPr>
              <a:t>get_one_to_one()</a:t>
            </a:r>
            <a:endParaRPr sz="18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800">
              <a:solidFill>
                <a:schemeClr val="dk2"/>
              </a:solidFill>
              <a:latin typeface="Courier New"/>
              <a:ea typeface="Courier New"/>
              <a:cs typeface="Courier New"/>
              <a:sym typeface="Courier New"/>
            </a:endParaRPr>
          </a:p>
        </p:txBody>
      </p:sp>
      <p:pic>
        <p:nvPicPr>
          <p:cNvPr id="82" name="Google Shape;82;p15"/>
          <p:cNvPicPr preferRelativeResize="0"/>
          <p:nvPr/>
        </p:nvPicPr>
        <p:blipFill>
          <a:blip r:embed="rId3">
            <a:alphaModFix/>
          </a:blip>
          <a:stretch>
            <a:fillRect/>
          </a:stretch>
        </p:blipFill>
        <p:spPr>
          <a:xfrm>
            <a:off x="7468425" y="3270125"/>
            <a:ext cx="1444825" cy="1673600"/>
          </a:xfrm>
          <a:prstGeom prst="rect">
            <a:avLst/>
          </a:prstGeom>
          <a:noFill/>
          <a:ln>
            <a:noFill/>
          </a:ln>
        </p:spPr>
      </p:pic>
      <p:pic>
        <p:nvPicPr>
          <p:cNvPr id="83" name="Google Shape;83;p15"/>
          <p:cNvPicPr preferRelativeResize="0"/>
          <p:nvPr/>
        </p:nvPicPr>
        <p:blipFill>
          <a:blip r:embed="rId4">
            <a:alphaModFix/>
          </a:blip>
          <a:stretch>
            <a:fillRect/>
          </a:stretch>
        </p:blipFill>
        <p:spPr>
          <a:xfrm>
            <a:off x="387888" y="4540328"/>
            <a:ext cx="6285175" cy="475725"/>
          </a:xfrm>
          <a:prstGeom prst="rect">
            <a:avLst/>
          </a:prstGeom>
          <a:noFill/>
          <a:ln cap="flat" cmpd="sng" w="28575">
            <a:solidFill>
              <a:schemeClr val="dk2"/>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The Data Set</a:t>
            </a:r>
            <a:endParaRPr/>
          </a:p>
        </p:txBody>
      </p:sp>
      <p:pic>
        <p:nvPicPr>
          <p:cNvPr id="89" name="Google Shape;89;p16"/>
          <p:cNvPicPr preferRelativeResize="0"/>
          <p:nvPr/>
        </p:nvPicPr>
        <p:blipFill>
          <a:blip r:embed="rId3">
            <a:alphaModFix/>
          </a:blip>
          <a:stretch>
            <a:fillRect/>
          </a:stretch>
        </p:blipFill>
        <p:spPr>
          <a:xfrm>
            <a:off x="101550" y="1413875"/>
            <a:ext cx="8940902" cy="2760525"/>
          </a:xfrm>
          <a:prstGeom prst="rect">
            <a:avLst/>
          </a:prstGeom>
          <a:noFill/>
          <a:ln cap="flat" cmpd="sng" w="28575">
            <a:solidFill>
              <a:schemeClr val="dk2"/>
            </a:solidFill>
            <a:prstDash val="solid"/>
            <a:round/>
            <a:headEnd len="sm" w="sm" type="none"/>
            <a:tailEnd len="sm" w="sm" type="none"/>
          </a:ln>
        </p:spPr>
      </p:pic>
      <p:pic>
        <p:nvPicPr>
          <p:cNvPr id="90" name="Google Shape;90;p16"/>
          <p:cNvPicPr preferRelativeResize="0"/>
          <p:nvPr/>
        </p:nvPicPr>
        <p:blipFill>
          <a:blip r:embed="rId4">
            <a:alphaModFix/>
          </a:blip>
          <a:stretch>
            <a:fillRect/>
          </a:stretch>
        </p:blipFill>
        <p:spPr>
          <a:xfrm>
            <a:off x="152400" y="4326800"/>
            <a:ext cx="8839204" cy="582662"/>
          </a:xfrm>
          <a:prstGeom prst="rect">
            <a:avLst/>
          </a:prstGeom>
          <a:noFill/>
          <a:ln cap="flat" cmpd="sng" w="28575">
            <a:solidFill>
              <a:schemeClr val="dk2"/>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Implementation of Package with Data Set</a:t>
            </a:r>
            <a:endParaRPr/>
          </a:p>
        </p:txBody>
      </p:sp>
      <p:sp>
        <p:nvSpPr>
          <p:cNvPr id="96" name="Google Shape;96;p17"/>
          <p:cNvSpPr txBox="1"/>
          <p:nvPr/>
        </p:nvSpPr>
        <p:spPr>
          <a:xfrm>
            <a:off x="6355250" y="347000"/>
            <a:ext cx="2313300" cy="3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Roboto"/>
                <a:ea typeface="Roboto"/>
                <a:cs typeface="Roboto"/>
                <a:sym typeface="Roboto"/>
              </a:rPr>
              <a:t>janitor package be like…</a:t>
            </a:r>
            <a:endParaRPr sz="1000">
              <a:solidFill>
                <a:schemeClr val="dk1"/>
              </a:solidFill>
              <a:latin typeface="Roboto"/>
              <a:ea typeface="Roboto"/>
              <a:cs typeface="Roboto"/>
              <a:sym typeface="Roboto"/>
            </a:endParaRPr>
          </a:p>
        </p:txBody>
      </p:sp>
      <p:pic>
        <p:nvPicPr>
          <p:cNvPr id="97" name="Google Shape;97;p17"/>
          <p:cNvPicPr preferRelativeResize="0"/>
          <p:nvPr/>
        </p:nvPicPr>
        <p:blipFill>
          <a:blip r:embed="rId3">
            <a:alphaModFix/>
          </a:blip>
          <a:stretch>
            <a:fillRect/>
          </a:stretch>
        </p:blipFill>
        <p:spPr>
          <a:xfrm>
            <a:off x="6355250" y="746289"/>
            <a:ext cx="2313300" cy="3778411"/>
          </a:xfrm>
          <a:prstGeom prst="rect">
            <a:avLst/>
          </a:prstGeom>
          <a:noFill/>
          <a:ln cap="flat" cmpd="sng" w="28575">
            <a:solidFill>
              <a:schemeClr val="dk2"/>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Cleaning: Column Names</a:t>
            </a:r>
            <a:endParaRPr/>
          </a:p>
        </p:txBody>
      </p:sp>
      <p:pic>
        <p:nvPicPr>
          <p:cNvPr id="103" name="Google Shape;103;p18"/>
          <p:cNvPicPr preferRelativeResize="0"/>
          <p:nvPr/>
        </p:nvPicPr>
        <p:blipFill rotWithShape="1">
          <a:blip r:embed="rId3">
            <a:alphaModFix/>
          </a:blip>
          <a:srcRect b="0" l="0" r="0" t="35922"/>
          <a:stretch/>
        </p:blipFill>
        <p:spPr>
          <a:xfrm>
            <a:off x="611275" y="1594225"/>
            <a:ext cx="7921450" cy="1462350"/>
          </a:xfrm>
          <a:prstGeom prst="rect">
            <a:avLst/>
          </a:prstGeom>
          <a:noFill/>
          <a:ln cap="flat" cmpd="sng" w="28575">
            <a:solidFill>
              <a:schemeClr val="dk2"/>
            </a:solidFill>
            <a:prstDash val="solid"/>
            <a:round/>
            <a:headEnd len="sm" w="sm" type="none"/>
            <a:tailEnd len="sm" w="sm" type="none"/>
          </a:ln>
        </p:spPr>
      </p:pic>
      <p:sp>
        <p:nvSpPr>
          <p:cNvPr id="104" name="Google Shape;104;p18"/>
          <p:cNvSpPr txBox="1"/>
          <p:nvPr/>
        </p:nvSpPr>
        <p:spPr>
          <a:xfrm>
            <a:off x="641400" y="3270125"/>
            <a:ext cx="7861200" cy="88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This cleans the column names of our dataset, ensuring that there are no funky symbols or spaces in them. </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Notice how the output will utilize underscores to fix this.</a:t>
            </a:r>
            <a:endParaRPr sz="1800">
              <a:solidFill>
                <a:schemeClr val="dk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type="title"/>
          </p:nvPr>
        </p:nvSpPr>
        <p:spPr>
          <a:xfrm>
            <a:off x="387900" y="458025"/>
            <a:ext cx="8368200" cy="686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Cleaning: Dropping Empty Rows and Columns</a:t>
            </a:r>
            <a:endParaRPr/>
          </a:p>
        </p:txBody>
      </p:sp>
      <p:pic>
        <p:nvPicPr>
          <p:cNvPr id="110" name="Google Shape;110;p19"/>
          <p:cNvPicPr preferRelativeResize="0"/>
          <p:nvPr/>
        </p:nvPicPr>
        <p:blipFill>
          <a:blip r:embed="rId3">
            <a:alphaModFix/>
          </a:blip>
          <a:stretch>
            <a:fillRect/>
          </a:stretch>
        </p:blipFill>
        <p:spPr>
          <a:xfrm>
            <a:off x="481025" y="1358051"/>
            <a:ext cx="8181977" cy="1465950"/>
          </a:xfrm>
          <a:prstGeom prst="rect">
            <a:avLst/>
          </a:prstGeom>
          <a:noFill/>
          <a:ln cap="flat" cmpd="sng" w="28575">
            <a:solidFill>
              <a:schemeClr val="dk2"/>
            </a:solidFill>
            <a:prstDash val="solid"/>
            <a:round/>
            <a:headEnd len="sm" w="sm" type="none"/>
            <a:tailEnd len="sm" w="sm" type="none"/>
          </a:ln>
        </p:spPr>
      </p:pic>
      <p:sp>
        <p:nvSpPr>
          <p:cNvPr id="111" name="Google Shape;111;p19"/>
          <p:cNvSpPr txBox="1"/>
          <p:nvPr/>
        </p:nvSpPr>
        <p:spPr>
          <a:xfrm>
            <a:off x="481038" y="3123118"/>
            <a:ext cx="81819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Here, we remove empty rows and columns. </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Notice how there is one row and one column that get dropped after this cleaning step.</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10X15 → 9X14</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type="title"/>
          </p:nvPr>
        </p:nvSpPr>
        <p:spPr>
          <a:xfrm>
            <a:off x="387900" y="458025"/>
            <a:ext cx="8656800" cy="686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Cleaning: Removing Columns with Constant Values</a:t>
            </a:r>
            <a:endParaRPr/>
          </a:p>
        </p:txBody>
      </p:sp>
      <p:pic>
        <p:nvPicPr>
          <p:cNvPr id="117" name="Google Shape;117;p20"/>
          <p:cNvPicPr preferRelativeResize="0"/>
          <p:nvPr/>
        </p:nvPicPr>
        <p:blipFill>
          <a:blip r:embed="rId3">
            <a:alphaModFix/>
          </a:blip>
          <a:stretch>
            <a:fillRect/>
          </a:stretch>
        </p:blipFill>
        <p:spPr>
          <a:xfrm>
            <a:off x="481000" y="1529601"/>
            <a:ext cx="8181974" cy="1229475"/>
          </a:xfrm>
          <a:prstGeom prst="rect">
            <a:avLst/>
          </a:prstGeom>
          <a:noFill/>
          <a:ln cap="flat" cmpd="sng" w="28575">
            <a:solidFill>
              <a:schemeClr val="dk2"/>
            </a:solidFill>
            <a:prstDash val="solid"/>
            <a:round/>
            <a:headEnd len="sm" w="sm" type="none"/>
            <a:tailEnd len="sm" w="sm" type="none"/>
          </a:ln>
        </p:spPr>
      </p:pic>
      <p:sp>
        <p:nvSpPr>
          <p:cNvPr id="118" name="Google Shape;118;p20"/>
          <p:cNvSpPr txBox="1"/>
          <p:nvPr/>
        </p:nvSpPr>
        <p:spPr>
          <a:xfrm>
            <a:off x="481025" y="2759068"/>
            <a:ext cx="8181900" cy="4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Since everyone paid with a credit card, notice how “Payment Method” is no longer in our list of column names. </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2" name="Shape 122"/>
        <p:cNvGrpSpPr/>
        <p:nvPr/>
      </p:nvGrpSpPr>
      <p:grpSpPr>
        <a:xfrm>
          <a:off x="0" y="0"/>
          <a:ext cx="0" cy="0"/>
          <a:chOff x="0" y="0"/>
          <a:chExt cx="0" cy="0"/>
        </a:xfrm>
      </p:grpSpPr>
      <p:sp>
        <p:nvSpPr>
          <p:cNvPr id="123" name="Google Shape;123;p21"/>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Cleaning: Date Conversion, Altering Cells</a:t>
            </a:r>
            <a:endParaRPr/>
          </a:p>
        </p:txBody>
      </p:sp>
      <p:pic>
        <p:nvPicPr>
          <p:cNvPr id="124" name="Google Shape;124;p21"/>
          <p:cNvPicPr preferRelativeResize="0"/>
          <p:nvPr/>
        </p:nvPicPr>
        <p:blipFill>
          <a:blip r:embed="rId3">
            <a:alphaModFix/>
          </a:blip>
          <a:stretch>
            <a:fillRect/>
          </a:stretch>
        </p:blipFill>
        <p:spPr>
          <a:xfrm>
            <a:off x="302837" y="1438801"/>
            <a:ext cx="8660377" cy="1060950"/>
          </a:xfrm>
          <a:prstGeom prst="rect">
            <a:avLst/>
          </a:prstGeom>
          <a:noFill/>
          <a:ln cap="flat" cmpd="sng" w="28575">
            <a:solidFill>
              <a:schemeClr val="dk2"/>
            </a:solidFill>
            <a:prstDash val="solid"/>
            <a:round/>
            <a:headEnd len="sm" w="sm" type="none"/>
            <a:tailEnd len="sm" w="sm" type="none"/>
          </a:ln>
        </p:spPr>
      </p:pic>
      <p:sp>
        <p:nvSpPr>
          <p:cNvPr id="125" name="Google Shape;125;p21"/>
          <p:cNvSpPr txBox="1"/>
          <p:nvPr/>
        </p:nvSpPr>
        <p:spPr>
          <a:xfrm>
            <a:off x="302825" y="2499750"/>
            <a:ext cx="8660400" cy="90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In some settings, Excel serial dates are used instead of a more user-friendly date description. </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This function allows us to convert this Excel serial date </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into a more traditional way of expressing a </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date: yyyy-mm-dd.</a:t>
            </a:r>
            <a:endParaRPr sz="1800">
              <a:solidFill>
                <a:schemeClr val="dk1"/>
              </a:solidFill>
              <a:latin typeface="Roboto"/>
              <a:ea typeface="Roboto"/>
              <a:cs typeface="Roboto"/>
              <a:sym typeface="Roboto"/>
            </a:endParaRPr>
          </a:p>
        </p:txBody>
      </p:sp>
      <p:pic>
        <p:nvPicPr>
          <p:cNvPr id="126" name="Google Shape;126;p21"/>
          <p:cNvPicPr preferRelativeResize="0"/>
          <p:nvPr/>
        </p:nvPicPr>
        <p:blipFill>
          <a:blip r:embed="rId4">
            <a:alphaModFix/>
          </a:blip>
          <a:stretch>
            <a:fillRect/>
          </a:stretch>
        </p:blipFill>
        <p:spPr>
          <a:xfrm>
            <a:off x="6246849" y="3257475"/>
            <a:ext cx="2439825" cy="1502100"/>
          </a:xfrm>
          <a:prstGeom prst="rect">
            <a:avLst/>
          </a:prstGeom>
          <a:noFill/>
          <a:ln cap="flat" cmpd="sng" w="28575">
            <a:solidFill>
              <a:schemeClr val="dk2"/>
            </a:solidFill>
            <a:prstDash val="solid"/>
            <a:round/>
            <a:headEnd len="sm" w="sm" type="none"/>
            <a:tailEnd len="sm" w="sm" type="none"/>
          </a:ln>
        </p:spPr>
      </p:pic>
      <p:sp>
        <p:nvSpPr>
          <p:cNvPr id="127" name="Google Shape;127;p21"/>
          <p:cNvSpPr txBox="1"/>
          <p:nvPr/>
        </p:nvSpPr>
        <p:spPr>
          <a:xfrm>
            <a:off x="6347037" y="4759575"/>
            <a:ext cx="2380200" cy="24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Roboto"/>
                <a:ea typeface="Roboto"/>
                <a:cs typeface="Roboto"/>
                <a:sym typeface="Roboto"/>
              </a:rPr>
              <a:t>Oscar on a date… different kind of date.</a:t>
            </a:r>
            <a:endParaRPr sz="900">
              <a:solidFill>
                <a:schemeClr val="dk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2"/>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n"/>
              <a:t>Exploring: Duplicates</a:t>
            </a:r>
            <a:endParaRPr/>
          </a:p>
        </p:txBody>
      </p:sp>
      <p:pic>
        <p:nvPicPr>
          <p:cNvPr id="133" name="Google Shape;133;p22"/>
          <p:cNvPicPr preferRelativeResize="0"/>
          <p:nvPr/>
        </p:nvPicPr>
        <p:blipFill rotWithShape="1">
          <a:blip r:embed="rId3">
            <a:alphaModFix/>
          </a:blip>
          <a:srcRect b="38237" l="0" r="0" t="26634"/>
          <a:stretch/>
        </p:blipFill>
        <p:spPr>
          <a:xfrm>
            <a:off x="254525" y="1485700"/>
            <a:ext cx="8769601" cy="964550"/>
          </a:xfrm>
          <a:prstGeom prst="rect">
            <a:avLst/>
          </a:prstGeom>
          <a:noFill/>
          <a:ln cap="flat" cmpd="sng" w="28575">
            <a:solidFill>
              <a:schemeClr val="dk2"/>
            </a:solidFill>
            <a:prstDash val="solid"/>
            <a:round/>
            <a:headEnd len="sm" w="sm" type="none"/>
            <a:tailEnd len="sm" w="sm" type="none"/>
          </a:ln>
        </p:spPr>
      </p:pic>
      <p:sp>
        <p:nvSpPr>
          <p:cNvPr id="134" name="Google Shape;134;p22"/>
          <p:cNvSpPr txBox="1"/>
          <p:nvPr/>
        </p:nvSpPr>
        <p:spPr>
          <a:xfrm>
            <a:off x="254525" y="2571750"/>
            <a:ext cx="8368200" cy="13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Here, we are taking a look at rows that have similar data in them. In this particular example. We are examining which customers placed multiple orders.</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Notice how the output allows us to see all of the details in these cases.</a:t>
            </a:r>
            <a:endParaRPr sz="1800">
              <a:solidFill>
                <a:schemeClr val="dk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8" name="Shape 138"/>
        <p:cNvGrpSpPr/>
        <p:nvPr/>
      </p:nvGrpSpPr>
      <p:grpSpPr>
        <a:xfrm>
          <a:off x="0" y="0"/>
          <a:ext cx="0" cy="0"/>
          <a:chOff x="0" y="0"/>
          <a:chExt cx="0" cy="0"/>
        </a:xfrm>
      </p:grpSpPr>
      <p:sp>
        <p:nvSpPr>
          <p:cNvPr id="139" name="Google Shape;139;p23"/>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Exploring: One-to-One Relationships</a:t>
            </a:r>
            <a:endParaRPr/>
          </a:p>
        </p:txBody>
      </p:sp>
      <p:sp>
        <p:nvSpPr>
          <p:cNvPr id="140" name="Google Shape;140;p23"/>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a:t>Here, we are taking a look at rows that have similar data in them.</a:t>
            </a:r>
            <a:endParaRPr/>
          </a:p>
          <a:p>
            <a:pPr indent="0" lvl="0" marL="0" rtl="0" algn="l">
              <a:spcBef>
                <a:spcPts val="0"/>
              </a:spcBef>
              <a:spcAft>
                <a:spcPts val="1200"/>
              </a:spcAft>
              <a:buNone/>
            </a:pPr>
            <a:r>
              <a:t/>
            </a:r>
            <a:endParaRPr/>
          </a:p>
        </p:txBody>
      </p:sp>
      <p:pic>
        <p:nvPicPr>
          <p:cNvPr id="141" name="Google Shape;141;p23"/>
          <p:cNvPicPr preferRelativeResize="0"/>
          <p:nvPr/>
        </p:nvPicPr>
        <p:blipFill rotWithShape="1">
          <a:blip r:embed="rId3">
            <a:alphaModFix/>
          </a:blip>
          <a:srcRect b="0" l="0" r="0" t="61361"/>
          <a:stretch/>
        </p:blipFill>
        <p:spPr>
          <a:xfrm>
            <a:off x="387900" y="1489837"/>
            <a:ext cx="8368199" cy="1098738"/>
          </a:xfrm>
          <a:prstGeom prst="rect">
            <a:avLst/>
          </a:prstGeom>
          <a:noFill/>
          <a:ln cap="flat" cmpd="sng" w="28575">
            <a:solidFill>
              <a:schemeClr val="dk2"/>
            </a:solidFill>
            <a:prstDash val="solid"/>
            <a:round/>
            <a:headEnd len="sm" w="sm" type="none"/>
            <a:tailEnd len="sm" w="sm" type="none"/>
          </a:ln>
        </p:spPr>
      </p:pic>
      <p:sp>
        <p:nvSpPr>
          <p:cNvPr id="142" name="Google Shape;142;p23"/>
          <p:cNvSpPr txBox="1"/>
          <p:nvPr/>
        </p:nvSpPr>
        <p:spPr>
          <a:xfrm>
            <a:off x="447425" y="2788775"/>
            <a:ext cx="8368200" cy="172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Here, we are taking a look at one-to-one relationships, meaning which </a:t>
            </a:r>
            <a:r>
              <a:rPr lang="en" sz="1800">
                <a:solidFill>
                  <a:schemeClr val="dk1"/>
                </a:solidFill>
                <a:latin typeface="Roboto"/>
                <a:ea typeface="Roboto"/>
                <a:cs typeface="Roboto"/>
                <a:sym typeface="Roboto"/>
              </a:rPr>
              <a:t>fields</a:t>
            </a:r>
            <a:r>
              <a:rPr lang="en" sz="1800">
                <a:solidFill>
                  <a:schemeClr val="dk1"/>
                </a:solidFill>
                <a:latin typeface="Roboto"/>
                <a:ea typeface="Roboto"/>
                <a:cs typeface="Roboto"/>
                <a:sym typeface="Roboto"/>
              </a:rPr>
              <a:t> of data correspond directly with other fields. </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This could be </a:t>
            </a:r>
            <a:r>
              <a:rPr lang="en" sz="1800">
                <a:solidFill>
                  <a:schemeClr val="dk1"/>
                </a:solidFill>
                <a:latin typeface="Roboto"/>
                <a:ea typeface="Roboto"/>
                <a:cs typeface="Roboto"/>
                <a:sym typeface="Roboto"/>
              </a:rPr>
              <a:t>helpful, especially if there were many more rows of data. This information could help someone determine how to design a database system to store the data and identify cardinalities among tables.</a:t>
            </a:r>
            <a:endParaRPr sz="1800">
              <a:solidFill>
                <a:schemeClr val="dk1"/>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Exploring: Table Creation</a:t>
            </a:r>
            <a:endParaRPr/>
          </a:p>
        </p:txBody>
      </p:sp>
      <p:pic>
        <p:nvPicPr>
          <p:cNvPr id="148" name="Google Shape;148;p24"/>
          <p:cNvPicPr preferRelativeResize="0"/>
          <p:nvPr/>
        </p:nvPicPr>
        <p:blipFill rotWithShape="1">
          <a:blip r:embed="rId3">
            <a:alphaModFix/>
          </a:blip>
          <a:srcRect b="50000" l="0" r="0" t="0"/>
          <a:stretch/>
        </p:blipFill>
        <p:spPr>
          <a:xfrm>
            <a:off x="326875" y="1393366"/>
            <a:ext cx="8656050" cy="1078953"/>
          </a:xfrm>
          <a:prstGeom prst="rect">
            <a:avLst/>
          </a:prstGeom>
          <a:noFill/>
          <a:ln cap="flat" cmpd="sng" w="28575">
            <a:solidFill>
              <a:schemeClr val="dk2"/>
            </a:solidFill>
            <a:prstDash val="solid"/>
            <a:round/>
            <a:headEnd len="sm" w="sm" type="none"/>
            <a:tailEnd len="sm" w="sm" type="none"/>
          </a:ln>
        </p:spPr>
      </p:pic>
      <p:pic>
        <p:nvPicPr>
          <p:cNvPr id="149" name="Google Shape;149;p24"/>
          <p:cNvPicPr preferRelativeResize="0"/>
          <p:nvPr/>
        </p:nvPicPr>
        <p:blipFill rotWithShape="1">
          <a:blip r:embed="rId3">
            <a:alphaModFix/>
          </a:blip>
          <a:srcRect b="0" l="0" r="0" t="50000"/>
          <a:stretch/>
        </p:blipFill>
        <p:spPr>
          <a:xfrm>
            <a:off x="316317" y="2664424"/>
            <a:ext cx="8656050" cy="1078950"/>
          </a:xfrm>
          <a:prstGeom prst="rect">
            <a:avLst/>
          </a:prstGeom>
          <a:noFill/>
          <a:ln cap="flat" cmpd="sng" w="28575">
            <a:solidFill>
              <a:schemeClr val="dk2"/>
            </a:solidFill>
            <a:prstDash val="solid"/>
            <a:round/>
            <a:headEnd len="sm" w="sm" type="none"/>
            <a:tailEnd len="sm" w="sm" type="none"/>
          </a:ln>
        </p:spPr>
      </p:pic>
      <p:sp>
        <p:nvSpPr>
          <p:cNvPr id="150" name="Google Shape;150;p24"/>
          <p:cNvSpPr txBox="1"/>
          <p:nvPr/>
        </p:nvSpPr>
        <p:spPr>
          <a:xfrm>
            <a:off x="423325" y="4150275"/>
            <a:ext cx="8439900" cy="4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Roboto"/>
              <a:ea typeface="Roboto"/>
              <a:cs typeface="Roboto"/>
              <a:sym typeface="Roboto"/>
            </a:endParaRPr>
          </a:p>
        </p:txBody>
      </p:sp>
      <p:sp>
        <p:nvSpPr>
          <p:cNvPr id="151" name="Google Shape;151;p24"/>
          <p:cNvSpPr txBox="1"/>
          <p:nvPr/>
        </p:nvSpPr>
        <p:spPr>
          <a:xfrm>
            <a:off x="354650" y="3900570"/>
            <a:ext cx="8617800" cy="10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Here, we are building tables consistent with what variable(s) we are interested in. One-way and two-way tables help us see relationships between variables and to quickly count frequencies, compare groups, and identify patterns in the data.</a:t>
            </a:r>
            <a:endParaRPr sz="1800">
              <a:solidFill>
                <a:schemeClr val="dk1"/>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5" name="Shape 155"/>
        <p:cNvGrpSpPr/>
        <p:nvPr/>
      </p:nvGrpSpPr>
      <p:grpSpPr>
        <a:xfrm>
          <a:off x="0" y="0"/>
          <a:ext cx="0" cy="0"/>
          <a:chOff x="0" y="0"/>
          <a:chExt cx="0" cy="0"/>
        </a:xfrm>
      </p:grpSpPr>
      <p:sp>
        <p:nvSpPr>
          <p:cNvPr id="156" name="Google Shape;156;p2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Exploring: Viewing of Levels</a:t>
            </a:r>
            <a:endParaRPr/>
          </a:p>
        </p:txBody>
      </p:sp>
      <p:pic>
        <p:nvPicPr>
          <p:cNvPr id="157" name="Google Shape;157;p25"/>
          <p:cNvPicPr preferRelativeResize="0"/>
          <p:nvPr/>
        </p:nvPicPr>
        <p:blipFill>
          <a:blip r:embed="rId3">
            <a:alphaModFix/>
          </a:blip>
          <a:stretch>
            <a:fillRect/>
          </a:stretch>
        </p:blipFill>
        <p:spPr>
          <a:xfrm>
            <a:off x="246525" y="1415389"/>
            <a:ext cx="8778772" cy="1878850"/>
          </a:xfrm>
          <a:prstGeom prst="rect">
            <a:avLst/>
          </a:prstGeom>
          <a:noFill/>
          <a:ln cap="flat" cmpd="sng" w="28575">
            <a:solidFill>
              <a:schemeClr val="dk2"/>
            </a:solidFill>
            <a:prstDash val="solid"/>
            <a:round/>
            <a:headEnd len="sm" w="sm" type="none"/>
            <a:tailEnd len="sm" w="sm" type="none"/>
          </a:ln>
        </p:spPr>
      </p:pic>
      <p:sp>
        <p:nvSpPr>
          <p:cNvPr id="158" name="Google Shape;158;p25"/>
          <p:cNvSpPr txBox="1"/>
          <p:nvPr/>
        </p:nvSpPr>
        <p:spPr>
          <a:xfrm>
            <a:off x="354650" y="3926900"/>
            <a:ext cx="8466900" cy="104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Roboto"/>
              <a:ea typeface="Roboto"/>
              <a:cs typeface="Roboto"/>
              <a:sym typeface="Roboto"/>
            </a:endParaRPr>
          </a:p>
        </p:txBody>
      </p:sp>
      <p:sp>
        <p:nvSpPr>
          <p:cNvPr id="159" name="Google Shape;159;p25"/>
          <p:cNvSpPr txBox="1"/>
          <p:nvPr/>
        </p:nvSpPr>
        <p:spPr>
          <a:xfrm>
            <a:off x="246525" y="3306275"/>
            <a:ext cx="8616300" cy="8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Here we </a:t>
            </a:r>
            <a:r>
              <a:rPr lang="en" sz="1800">
                <a:solidFill>
                  <a:schemeClr val="dk1"/>
                </a:solidFill>
                <a:latin typeface="Roboto"/>
                <a:ea typeface="Roboto"/>
                <a:cs typeface="Roboto"/>
                <a:sym typeface="Roboto"/>
              </a:rPr>
              <a:t>recoded</a:t>
            </a:r>
            <a:r>
              <a:rPr lang="en" sz="1800">
                <a:solidFill>
                  <a:schemeClr val="dk1"/>
                </a:solidFill>
                <a:latin typeface="Roboto"/>
                <a:ea typeface="Roboto"/>
                <a:cs typeface="Roboto"/>
                <a:sym typeface="Roboto"/>
              </a:rPr>
              <a:t> the satisfaction variable as a factor and used the top_levels function to quickly view the ordered categories.</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Notice how the </a:t>
            </a:r>
            <a:r>
              <a:rPr lang="en" sz="1800">
                <a:solidFill>
                  <a:schemeClr val="dk1"/>
                </a:solidFill>
                <a:latin typeface="Roboto"/>
                <a:ea typeface="Roboto"/>
                <a:cs typeface="Roboto"/>
                <a:sym typeface="Roboto"/>
              </a:rPr>
              <a:t>output</a:t>
            </a:r>
            <a:r>
              <a:rPr lang="en" sz="1800">
                <a:solidFill>
                  <a:schemeClr val="dk1"/>
                </a:solidFill>
                <a:latin typeface="Roboto"/>
                <a:ea typeface="Roboto"/>
                <a:cs typeface="Roboto"/>
                <a:sym typeface="Roboto"/>
              </a:rPr>
              <a:t> clearly displays the distribution of responses across all satisfaction levels, making it easy to compare them.</a:t>
            </a:r>
            <a:endParaRPr sz="1800">
              <a:solidFill>
                <a:schemeClr val="dk1"/>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Our Experience and Takeaways</a:t>
            </a:r>
            <a:endParaRPr/>
          </a:p>
        </p:txBody>
      </p:sp>
      <p:sp>
        <p:nvSpPr>
          <p:cNvPr id="165" name="Google Shape;165;p26"/>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DSS 416, Data Wrangling and Visualization </a:t>
            </a:r>
            <a:endParaRPr/>
          </a:p>
          <a:p>
            <a:pPr indent="-317500" lvl="1" marL="914400" rtl="0" algn="l">
              <a:spcBef>
                <a:spcPts val="0"/>
              </a:spcBef>
              <a:spcAft>
                <a:spcPts val="0"/>
              </a:spcAft>
              <a:buSzPts val="1400"/>
              <a:buChar char="○"/>
            </a:pPr>
            <a:r>
              <a:rPr lang="en"/>
              <a:t>Fe Y Alegr</a:t>
            </a:r>
            <a:r>
              <a:rPr lang="en"/>
              <a:t>ía</a:t>
            </a:r>
            <a:endParaRPr/>
          </a:p>
          <a:p>
            <a:pPr indent="-342900" lvl="0" marL="457200" rtl="0" algn="l">
              <a:spcBef>
                <a:spcPts val="0"/>
              </a:spcBef>
              <a:spcAft>
                <a:spcPts val="0"/>
              </a:spcAft>
              <a:buSzPts val="1800"/>
              <a:buChar char="●"/>
            </a:pPr>
            <a:r>
              <a:rPr lang="en"/>
              <a:t>DSS 420, Data Mining</a:t>
            </a:r>
            <a:endParaRPr/>
          </a:p>
          <a:p>
            <a:pPr indent="-342900" lvl="0" marL="457200" rtl="0" algn="l">
              <a:spcBef>
                <a:spcPts val="0"/>
              </a:spcBef>
              <a:spcAft>
                <a:spcPts val="0"/>
              </a:spcAft>
              <a:buSzPts val="1800"/>
              <a:buChar char="●"/>
            </a:pPr>
            <a:r>
              <a:rPr lang="en"/>
              <a:t>DSC 225, Data Science of Sports</a:t>
            </a:r>
            <a:endParaRPr/>
          </a:p>
          <a:p>
            <a:pPr indent="-342900" lvl="0" marL="457200" rtl="0" algn="l">
              <a:spcBef>
                <a:spcPts val="0"/>
              </a:spcBef>
              <a:spcAft>
                <a:spcPts val="0"/>
              </a:spcAft>
              <a:buSzPts val="1800"/>
              <a:buChar char="●"/>
            </a:pPr>
            <a:r>
              <a:rPr lang="en"/>
              <a:t>MAT 470, Statistics in </a:t>
            </a:r>
            <a:r>
              <a:rPr lang="en"/>
              <a:t>Research</a:t>
            </a:r>
            <a:endParaRPr/>
          </a:p>
          <a:p>
            <a:pPr indent="0" lvl="0" marL="0" rtl="0" algn="l">
              <a:spcBef>
                <a:spcPts val="1200"/>
              </a:spcBef>
              <a:spcAft>
                <a:spcPts val="1200"/>
              </a:spcAft>
              <a:buNone/>
            </a:pPr>
            <a:r>
              <a:rPr lang="en"/>
              <a:t>These classes all dealt with filthy data. Utilizing “janitor” </a:t>
            </a:r>
            <a:r>
              <a:rPr lang="en"/>
              <a:t>would</a:t>
            </a:r>
            <a:r>
              <a:rPr lang="en"/>
              <a:t> have helped tremendously. I am curious if there exists similar packages in Python and if so how they might differ.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References</a:t>
            </a:r>
            <a:endParaRPr/>
          </a:p>
        </p:txBody>
      </p:sp>
      <p:sp>
        <p:nvSpPr>
          <p:cNvPr id="171" name="Google Shape;171;p27"/>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77500" lnSpcReduction="20000"/>
          </a:bodyPr>
          <a:lstStyle/>
          <a:p>
            <a:pPr indent="-351631" lvl="0" marL="1371600" rtl="0" algn="l">
              <a:spcBef>
                <a:spcPts val="0"/>
              </a:spcBef>
              <a:spcAft>
                <a:spcPts val="0"/>
              </a:spcAft>
              <a:buSzPct val="100000"/>
              <a:buChar char="●"/>
            </a:pPr>
            <a:r>
              <a:rPr lang="en" sz="2500" u="sng">
                <a:solidFill>
                  <a:schemeClr val="hlink"/>
                </a:solidFill>
                <a:hlinkClick r:id="rId3"/>
              </a:rPr>
              <a:t>https://cran.r-project.org/web/packages/janitor/index.html</a:t>
            </a:r>
            <a:r>
              <a:rPr lang="en" sz="2500"/>
              <a:t> </a:t>
            </a:r>
            <a:endParaRPr sz="2500"/>
          </a:p>
          <a:p>
            <a:pPr indent="-351631" lvl="0" marL="1371600" marR="0" rtl="0" algn="l">
              <a:lnSpc>
                <a:spcPct val="115000"/>
              </a:lnSpc>
              <a:spcBef>
                <a:spcPts val="0"/>
              </a:spcBef>
              <a:spcAft>
                <a:spcPts val="0"/>
              </a:spcAft>
              <a:buSzPct val="100000"/>
              <a:buChar char="●"/>
            </a:pPr>
            <a:r>
              <a:rPr lang="en" sz="2500" u="sng">
                <a:solidFill>
                  <a:schemeClr val="hlink"/>
                </a:solidFill>
                <a:hlinkClick r:id="rId4"/>
              </a:rPr>
              <a:t>https://cran.r-project.org/web/packages/janitor/vignettes/janitor.html#clean-dataframe-names-with-clean_names</a:t>
            </a:r>
            <a:endParaRPr sz="2500" u="sng">
              <a:solidFill>
                <a:schemeClr val="hlink"/>
              </a:solidFill>
            </a:endParaRPr>
          </a:p>
          <a:p>
            <a:pPr indent="-351631" lvl="0" marL="1371600" marR="0" rtl="0" algn="l">
              <a:lnSpc>
                <a:spcPct val="115000"/>
              </a:lnSpc>
              <a:spcBef>
                <a:spcPts val="0"/>
              </a:spcBef>
              <a:spcAft>
                <a:spcPts val="0"/>
              </a:spcAft>
              <a:buSzPct val="100000"/>
              <a:buChar char="●"/>
            </a:pPr>
            <a:r>
              <a:rPr lang="en" sz="2500" u="sng">
                <a:solidFill>
                  <a:schemeClr val="hlink"/>
                </a:solidFill>
                <a:hlinkClick r:id="rId5"/>
              </a:rPr>
              <a:t>https://www.rdocumentation.org/packages/janitor/versions/2.2.1</a:t>
            </a:r>
            <a:r>
              <a:rPr lang="en" sz="2500" u="sng">
                <a:solidFill>
                  <a:schemeClr val="hlink"/>
                </a:solidFill>
              </a:rPr>
              <a:t> </a:t>
            </a:r>
            <a:endParaRPr sz="2500" u="sng">
              <a:solidFill>
                <a:schemeClr val="hlink"/>
              </a:solidFill>
            </a:endParaRPr>
          </a:p>
          <a:p>
            <a:pPr indent="-351631" lvl="0" marL="1371600" marR="0" rtl="0" algn="l">
              <a:lnSpc>
                <a:spcPct val="115000"/>
              </a:lnSpc>
              <a:spcBef>
                <a:spcPts val="0"/>
              </a:spcBef>
              <a:spcAft>
                <a:spcPts val="0"/>
              </a:spcAft>
              <a:buSzPct val="100000"/>
              <a:buChar char="●"/>
            </a:pPr>
            <a:r>
              <a:rPr lang="en" sz="2500" u="sng">
                <a:solidFill>
                  <a:schemeClr val="hlink"/>
                </a:solidFill>
              </a:rPr>
              <a:t>https://www.r-bloggers.com/2024/08/top-25-r-packages-you-need-to-learn-in-2024/</a:t>
            </a:r>
            <a:endParaRPr sz="2500" u="sng">
              <a:solidFill>
                <a:schemeClr val="hlink"/>
              </a:solidFill>
            </a:endParaRPr>
          </a:p>
          <a:p>
            <a:pPr indent="0" lvl="0" marL="457200" marR="0" rtl="0" algn="l">
              <a:lnSpc>
                <a:spcPct val="115000"/>
              </a:lnSpc>
              <a:spcBef>
                <a:spcPts val="1200"/>
              </a:spcBef>
              <a:spcAft>
                <a:spcPts val="0"/>
              </a:spcAft>
              <a:buNone/>
            </a:pPr>
            <a:r>
              <a:t/>
            </a:r>
            <a:endParaRPr sz="2500">
              <a:solidFill>
                <a:schemeClr val="hlink"/>
              </a:solidFill>
            </a:endParaRPr>
          </a:p>
          <a:p>
            <a:pPr indent="0" lvl="0" marL="457200" marR="0" rtl="0" algn="l">
              <a:lnSpc>
                <a:spcPct val="115000"/>
              </a:lnSpc>
              <a:spcBef>
                <a:spcPts val="1200"/>
              </a:spcBef>
              <a:spcAft>
                <a:spcPts val="1200"/>
              </a:spcAft>
              <a:buNone/>
            </a:pPr>
            <a:r>
              <a:rPr lang="en">
                <a:solidFill>
                  <a:schemeClr val="hlink"/>
                </a:solidFill>
              </a:rPr>
              <a:t>Also the “help” function came in handy!</a:t>
            </a:r>
            <a:endParaRPr>
              <a:solidFill>
                <a:schemeClr val="hlink"/>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Any questions? Thank you!</a:t>
            </a:r>
            <a:endParaRPr/>
          </a:p>
        </p:txBody>
      </p:sp>
      <p:pic>
        <p:nvPicPr>
          <p:cNvPr id="177" name="Google Shape;177;p28"/>
          <p:cNvPicPr preferRelativeResize="0"/>
          <p:nvPr/>
        </p:nvPicPr>
        <p:blipFill>
          <a:blip r:embed="rId3">
            <a:alphaModFix/>
          </a:blip>
          <a:stretch>
            <a:fillRect/>
          </a:stretch>
        </p:blipFill>
        <p:spPr>
          <a:xfrm>
            <a:off x="5109400" y="1108577"/>
            <a:ext cx="3812599" cy="2795374"/>
          </a:xfrm>
          <a:prstGeom prst="rect">
            <a:avLst/>
          </a:prstGeom>
          <a:noFill/>
          <a:ln cap="flat" cmpd="sng" w="28575">
            <a:solidFill>
              <a:schemeClr val="dk2"/>
            </a:solidFill>
            <a:prstDash val="solid"/>
            <a:round/>
            <a:headEnd len="sm" w="sm" type="none"/>
            <a:tailEnd len="sm" w="sm" type="none"/>
          </a:ln>
        </p:spPr>
      </p:pic>
      <p:sp>
        <p:nvSpPr>
          <p:cNvPr id="178" name="Google Shape;178;p28"/>
          <p:cNvSpPr txBox="1"/>
          <p:nvPr/>
        </p:nvSpPr>
        <p:spPr>
          <a:xfrm>
            <a:off x="5109400" y="3903950"/>
            <a:ext cx="4256400" cy="23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Roboto"/>
                <a:ea typeface="Roboto"/>
                <a:cs typeface="Roboto"/>
                <a:sym typeface="Roboto"/>
              </a:rPr>
              <a:t>Oscar the Grouch when the data isn’t clean. JK he loves the grime. </a:t>
            </a:r>
            <a:endParaRPr sz="1000">
              <a:solidFill>
                <a:schemeClr val="dk1"/>
              </a:solidFill>
              <a:latin typeface="Roboto"/>
              <a:ea typeface="Roboto"/>
              <a:cs typeface="Roboto"/>
              <a:sym typeface="Roboto"/>
            </a:endParaRPr>
          </a:p>
        </p:txBody>
      </p:sp>
      <p:sp>
        <p:nvSpPr>
          <p:cNvPr id="179" name="Google Shape;179;p28"/>
          <p:cNvSpPr txBox="1"/>
          <p:nvPr/>
        </p:nvSpPr>
        <p:spPr>
          <a:xfrm>
            <a:off x="1470250" y="3363250"/>
            <a:ext cx="2008200" cy="29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Roboto"/>
                <a:ea typeface="Roboto"/>
                <a:cs typeface="Roboto"/>
                <a:sym typeface="Roboto"/>
              </a:rPr>
              <a:t>Now scram!!!</a:t>
            </a:r>
            <a:endParaRPr sz="900">
              <a:solidFill>
                <a:schemeClr val="dk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